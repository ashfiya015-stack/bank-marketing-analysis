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61C4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61C4C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108960" cy="3108960"/>
          </a:xfrm>
          <a:prstGeom prst="ellipse">
            <a:avLst/>
          </a:prstGeom>
          <a:solidFill>
            <a:srgbClr val="161C4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777240"/>
            <a:ext cx="1051560" cy="10515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/home/claude/icons/piggybank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1029614"/>
            <a:ext cx="546811" cy="546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PRESENTATION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Marketing Data Analysis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1005840" cy="0"/>
          </a:xfrm>
          <a:prstGeom prst="line">
            <a:avLst/>
          </a:prstGeom>
          <a:noFill/>
          <a:ln w="3810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Segmentation, Campaign Performance &amp; Term Deposit Insights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behavior and marketing campaign effectiveness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10512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7" name="Image 0" descr="/home/claude/icons/bullsey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4218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9164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and campaign data to understand the factors associated with term deposit subscription.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F0F4FC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200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3649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406908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Focus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68680" y="4526280"/>
            <a:ext cx="2898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financial and loan characteristics form the core analytical lens.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343400" y="288036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F0F4FC"/>
          </a:solidFill>
          <a:ln/>
        </p:spPr>
      </p:sp>
      <p:sp>
        <p:nvSpPr>
          <p:cNvPr id="15" name="Shape 11"/>
          <p:cNvSpPr/>
          <p:nvPr/>
        </p:nvSpPr>
        <p:spPr>
          <a:xfrm>
            <a:off x="4663440" y="3200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3649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406908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663440" y="4526280"/>
            <a:ext cx="2898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and descriptive analysis to surface meaningful customer segments and patterns.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138160" y="288036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F0F4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458200" y="3200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lightbulb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336499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58200" y="406908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Outcome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458200" y="4526280"/>
            <a:ext cx="2898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analytical findings into recommendations that improve campaign targeting.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Data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Quality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clean, reliable foundation before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63624" y="2514600"/>
            <a:ext cx="9034272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60704" y="20116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2106" y="2253082"/>
            <a:ext cx="523037" cy="52303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19656" y="1901952"/>
            <a:ext cx="365760" cy="365760"/>
          </a:xfrm>
          <a:prstGeom prst="ellipse">
            <a:avLst/>
          </a:prstGeom>
          <a:solidFill>
            <a:srgbClr val="C9A2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19656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2029968" cy="2697480"/>
          </a:xfrm>
          <a:prstGeom prst="roundRect">
            <a:avLst>
              <a:gd name="adj" fmla="val 3153"/>
            </a:avLst>
          </a:prstGeom>
          <a:solidFill>
            <a:srgbClr val="F0F4FC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3832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Inspect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13232" y="393192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inspected the dataset using Python and Pandas.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19272" y="2011680"/>
            <a:ext cx="1005840" cy="1005840"/>
          </a:xfrm>
          <a:prstGeom prst="ellipse">
            <a:avLst/>
          </a:prstGeom>
          <a:solidFill>
            <a:srgbClr val="4A5FA5"/>
          </a:solidFill>
          <a:ln/>
        </p:spPr>
      </p:sp>
      <p:pic>
        <p:nvPicPr>
          <p:cNvPr id="14" name="Image 1" descr="/home/claude/icons/filt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674" y="2253082"/>
            <a:ext cx="523037" cy="52303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078224" y="1901952"/>
            <a:ext cx="365760" cy="365760"/>
          </a:xfrm>
          <a:prstGeom prst="ellipse">
            <a:avLst/>
          </a:prstGeom>
          <a:solidFill>
            <a:srgbClr val="C9A2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78224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807208" y="3246120"/>
            <a:ext cx="2029968" cy="2697480"/>
          </a:xfrm>
          <a:prstGeom prst="roundRect">
            <a:avLst>
              <a:gd name="adj" fmla="val 3153"/>
            </a:avLst>
          </a:prstGeom>
          <a:solidFill>
            <a:srgbClr val="F0F4FC"/>
          </a:solidFill>
          <a:ln/>
        </p:spPr>
      </p:sp>
      <p:sp>
        <p:nvSpPr>
          <p:cNvPr id="18" name="Text 14"/>
          <p:cNvSpPr/>
          <p:nvPr/>
        </p:nvSpPr>
        <p:spPr>
          <a:xfrm>
            <a:off x="2944368" y="33832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Structure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2971800" y="393192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dimensions, column names, data types, and descriptive statistics.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577840" y="20116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icons/check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242" y="2253082"/>
            <a:ext cx="523037" cy="52303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336792" y="1901952"/>
            <a:ext cx="365760" cy="365760"/>
          </a:xfrm>
          <a:prstGeom prst="ellipse">
            <a:avLst/>
          </a:prstGeom>
          <a:solidFill>
            <a:srgbClr val="C9A2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336792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065776" y="3246120"/>
            <a:ext cx="2029968" cy="2697480"/>
          </a:xfrm>
          <a:prstGeom prst="roundRect">
            <a:avLst>
              <a:gd name="adj" fmla="val 3153"/>
            </a:avLst>
          </a:prstGeom>
          <a:solidFill>
            <a:srgbClr val="F0F4FC"/>
          </a:solidFill>
          <a:ln/>
        </p:spPr>
      </p:sp>
      <p:sp>
        <p:nvSpPr>
          <p:cNvPr id="25" name="Text 20"/>
          <p:cNvSpPr/>
          <p:nvPr/>
        </p:nvSpPr>
        <p:spPr>
          <a:xfrm>
            <a:off x="5202936" y="33832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Quality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230368" y="393192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 and duplicate records before analysis.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836408" y="2011680"/>
            <a:ext cx="1005840" cy="1005840"/>
          </a:xfrm>
          <a:prstGeom prst="ellipse">
            <a:avLst/>
          </a:prstGeom>
          <a:solidFill>
            <a:srgbClr val="4A5FA5"/>
          </a:solidFill>
          <a:ln/>
        </p:spPr>
      </p:sp>
      <p:pic>
        <p:nvPicPr>
          <p:cNvPr id="28" name="Image 3" descr="/home/claude/icons/layergrou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810" y="2253082"/>
            <a:ext cx="523037" cy="523037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595360" y="1901952"/>
            <a:ext cx="365760" cy="365760"/>
          </a:xfrm>
          <a:prstGeom prst="ellipse">
            <a:avLst/>
          </a:prstGeom>
          <a:solidFill>
            <a:srgbClr val="C9A2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59536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324344" y="3246120"/>
            <a:ext cx="2029968" cy="2697480"/>
          </a:xfrm>
          <a:prstGeom prst="roundRect">
            <a:avLst>
              <a:gd name="adj" fmla="val 3153"/>
            </a:avLst>
          </a:prstGeom>
          <a:solidFill>
            <a:srgbClr val="F0F4FC"/>
          </a:solidFill>
          <a:ln/>
        </p:spPr>
      </p:sp>
      <p:sp>
        <p:nvSpPr>
          <p:cNvPr id="32" name="Text 26"/>
          <p:cNvSpPr/>
          <p:nvPr/>
        </p:nvSpPr>
        <p:spPr>
          <a:xfrm>
            <a:off x="7461504" y="33832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Variables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7488936" y="393192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numerical and categorical variables for appropriate analysis and visualization.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10094976" y="20116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/home/claude/icons/bullsey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6378" y="2253082"/>
            <a:ext cx="523037" cy="523037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0853928" y="1901952"/>
            <a:ext cx="365760" cy="365760"/>
          </a:xfrm>
          <a:prstGeom prst="ellipse">
            <a:avLst/>
          </a:prstGeom>
          <a:solidFill>
            <a:srgbClr val="C9A2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0853928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9582912" y="3246120"/>
            <a:ext cx="2029968" cy="2697480"/>
          </a:xfrm>
          <a:prstGeom prst="roundRect">
            <a:avLst>
              <a:gd name="adj" fmla="val 3153"/>
            </a:avLst>
          </a:prstGeom>
          <a:solidFill>
            <a:srgbClr val="F0F4FC"/>
          </a:solidFill>
          <a:ln/>
        </p:spPr>
      </p:sp>
      <p:sp>
        <p:nvSpPr>
          <p:cNvPr id="39" name="Text 32"/>
          <p:cNvSpPr/>
          <p:nvPr/>
        </p:nvSpPr>
        <p:spPr>
          <a:xfrm>
            <a:off x="9720072" y="33832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Target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9747504" y="393192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term-deposit subscription as the key business target.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Data Analysis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Demographic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more likely to subscribe?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7" name="Image 0" descr="/home/claude/icons/userfriend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1067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Segment-Level View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47472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analysis and visualizations were used to identify higher- and lower-performing customer segments across every demographic dimension studied.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1645920"/>
            <a:ext cx="640080" cy="640080"/>
          </a:xfrm>
          <a:prstGeom prst="ellipse">
            <a:avLst/>
          </a:prstGeom>
          <a:solidFill>
            <a:srgbClr val="4A5FA5"/>
          </a:solidFill>
          <a:ln/>
        </p:spPr>
      </p:sp>
      <p:pic>
        <p:nvPicPr>
          <p:cNvPr id="11" name="Image 1" descr="/home/claude/icons/chartlin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459" y="17995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6002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Groups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303520" y="19842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subscription behavior across customer age groups.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434840" y="2944368"/>
            <a:ext cx="7178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434840" y="3127248"/>
            <a:ext cx="640080" cy="640080"/>
          </a:xfrm>
          <a:prstGeom prst="ellipse">
            <a:avLst/>
          </a:prstGeom>
          <a:solidFill>
            <a:srgbClr val="4A5FA5"/>
          </a:solidFill>
          <a:ln/>
        </p:spPr>
      </p:sp>
      <p:pic>
        <p:nvPicPr>
          <p:cNvPr id="16" name="Image 2" descr="/home/claude/icons/userti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459" y="328086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30815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Job, Education &amp; Marital Status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303520" y="346557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subscription rates by job type, education level, and marital status.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434840" y="4425696"/>
            <a:ext cx="7178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434840" y="4608576"/>
            <a:ext cx="640080" cy="640080"/>
          </a:xfrm>
          <a:prstGeom prst="ellipse">
            <a:avLst/>
          </a:prstGeom>
          <a:solidFill>
            <a:srgbClr val="4A5FA5"/>
          </a:solidFill>
          <a:ln/>
        </p:spPr>
      </p:sp>
      <p:pic>
        <p:nvPicPr>
          <p:cNvPr id="21" name="Image 3" descr="/home/claude/icons/hom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459" y="4762195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45628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&amp; Default Status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303520" y="494690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housing loan, personal loan, and default status in relation to subscription behavior.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Data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how customers are contacted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0F4F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47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pho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090318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92808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Method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606040"/>
            <a:ext cx="2993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subscription performance across different contact methods.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8160" y="169164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0F4FC"/>
          </a:solidFill>
          <a:ln/>
        </p:spPr>
      </p:sp>
      <p:sp>
        <p:nvSpPr>
          <p:cNvPr id="11" name="Shape 8"/>
          <p:cNvSpPr/>
          <p:nvPr/>
        </p:nvSpPr>
        <p:spPr>
          <a:xfrm>
            <a:off x="4584192" y="1947672"/>
            <a:ext cx="594360" cy="594360"/>
          </a:xfrm>
          <a:prstGeom prst="ellipse">
            <a:avLst/>
          </a:prstGeom>
          <a:solidFill>
            <a:srgbClr val="4A5FA5"/>
          </a:solidFill>
          <a:ln/>
        </p:spPr>
      </p:sp>
      <p:pic>
        <p:nvPicPr>
          <p:cNvPr id="12" name="Image 1" descr="/home/claude/icons/chartb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38" y="2090318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4000" y="1892808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Frequency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84192" y="2606040"/>
            <a:ext cx="2993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the relationship between number of campaign contacts and subscription rate.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07680" y="169164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0F4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3712" y="1947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icons/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358" y="2090318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13520" y="1892808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Duration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63712" y="2606040"/>
            <a:ext cx="2993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call duration and its distribution across subscription outcomes.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74904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0F4FC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" y="4005072"/>
            <a:ext cx="594360" cy="594360"/>
          </a:xfrm>
          <a:prstGeom prst="ellipse">
            <a:avLst/>
          </a:prstGeom>
          <a:solidFill>
            <a:srgbClr val="4A5FA5"/>
          </a:solidFill>
          <a:ln/>
        </p:spPr>
      </p:sp>
      <p:pic>
        <p:nvPicPr>
          <p:cNvPr id="22" name="Image 3" descr="/home/claude/icons/check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4147718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950208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Outcomes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04672" y="4663440"/>
            <a:ext cx="2993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previous campaign outcomes and their relationship with current subscriptions.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28160" y="374904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F0F4FC"/>
          </a:solidFill>
          <a:ln/>
        </p:spPr>
      </p:sp>
      <p:sp>
        <p:nvSpPr>
          <p:cNvPr id="26" name="Shape 20"/>
          <p:cNvSpPr/>
          <p:nvPr/>
        </p:nvSpPr>
        <p:spPr>
          <a:xfrm>
            <a:off x="4584192" y="40050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home/claude/icons/calenda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838" y="4147718"/>
            <a:ext cx="309067" cy="30906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34000" y="3950208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Timing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84192" y="4663440"/>
            <a:ext cx="2993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contact month and day of week to identify campaign timing patterns.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07680" y="3749040"/>
            <a:ext cx="3505200" cy="1783080"/>
          </a:xfrm>
          <a:prstGeom prst="roundRect">
            <a:avLst>
              <a:gd name="adj" fmla="val 3590"/>
            </a:avLst>
          </a:prstGeom>
          <a:solidFill>
            <a:srgbClr val="1E2761"/>
          </a:solidFill>
          <a:ln/>
        </p:spPr>
      </p:sp>
      <p:sp>
        <p:nvSpPr>
          <p:cNvPr id="31" name="Shape 24"/>
          <p:cNvSpPr/>
          <p:nvPr/>
        </p:nvSpPr>
        <p:spPr>
          <a:xfrm>
            <a:off x="8363712" y="4005072"/>
            <a:ext cx="594360" cy="5943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32" name="Image 5" descr="/home/claude/icons/layergroup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6358" y="4147718"/>
            <a:ext cx="309067" cy="30906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13520" y="3950208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Lenses, One Goal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63712" y="4663440"/>
            <a:ext cx="2993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dimensions build a full picture of campaign effectiveness.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Data Analysis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2344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&amp; Business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analysis to actionable customer segments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layergrou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17810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03911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job and education characteristics to identify meaningful customer segments.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icons/chartb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32296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0906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customer volume, number of subscriptions, and subscription rate across segments.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projectdiagram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28122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14223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correlation analysis to examine relationships among numerical campaign and economic variables.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623560" y="169164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6" name="Shape 11"/>
          <p:cNvSpPr/>
          <p:nvPr/>
        </p:nvSpPr>
        <p:spPr>
          <a:xfrm>
            <a:off x="5943600" y="196596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7" name="Image 3" descr="/home/claude/icons/lightbulb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219" y="211957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20840" y="2011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5943600" y="27889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supports more focused targeting instead of treating all customers as one group.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943600" y="3657600"/>
            <a:ext cx="5394960" cy="0"/>
          </a:xfrm>
          <a:prstGeom prst="line">
            <a:avLst/>
          </a:prstGeom>
          <a:noFill/>
          <a:ln w="12700">
            <a:solidFill>
              <a:srgbClr val="4A5FA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943600" y="3840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decisions should consider: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989320" y="4279392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3" name="Text 17"/>
          <p:cNvSpPr/>
          <p:nvPr/>
        </p:nvSpPr>
        <p:spPr>
          <a:xfrm>
            <a:off x="6263640" y="4133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989320" y="4709160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5" name="Text 19"/>
          <p:cNvSpPr/>
          <p:nvPr/>
        </p:nvSpPr>
        <p:spPr>
          <a:xfrm>
            <a:off x="6263640" y="45628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campaign response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989320" y="5138928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7" name="Text 21"/>
          <p:cNvSpPr/>
          <p:nvPr/>
        </p:nvSpPr>
        <p:spPr>
          <a:xfrm>
            <a:off x="6263640" y="4992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strategy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989320" y="5568696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9" name="Text 23"/>
          <p:cNvSpPr/>
          <p:nvPr/>
        </p:nvSpPr>
        <p:spPr>
          <a:xfrm>
            <a:off x="6263640" y="5422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frequency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Data Analysis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572000" cy="4572000"/>
          </a:xfrm>
          <a:prstGeom prst="ellipse">
            <a:avLst/>
          </a:prstGeom>
          <a:solidFill>
            <a:srgbClr val="161C4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1C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B35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2344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provides a structured view of customer characteristics and marketing campaign behavior. Term-deposit subscription is unevenly distributed, making targeted customer segmentation important — demographic, loan, contact, campaign, and previous-outcome variables all offer useful perspectives for marketing analysis.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61C4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9" name="Image 0" descr="/home/claude/icons/bullsey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71393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587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60120" y="3246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higher-performing customer segments and effective contact strategies.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22860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61C4C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256032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4" name="Image 1" descr="/home/claude/icons/chartlin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71393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587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629400" y="3246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campaign history and contact frequency to improve future targeting and reduce inefficient outreach.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C9A24B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475488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rocket_C9A24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4963363"/>
            <a:ext cx="451714" cy="45171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6596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965960" y="50292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61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predictive models and an interactive dashboard for campaign decision support.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Data Analysis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2026-08-18T04:26:53Z</dcterms:created>
  <dcterms:modified xsi:type="dcterms:W3CDTF">2026-08-18T04:26:53Z</dcterms:modified>
</cp:coreProperties>
</file>